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315" r:id="rId5"/>
    <p:sldId id="316" r:id="rId6"/>
    <p:sldId id="314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0E411C-25B6-476C-B374-3652E905425B}" v="3" dt="2026-10-25T10:32:50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zen mahmoud" userId="62fca06549bf55a0" providerId="LiveId" clId="{E3077015-2BC3-4AD0-95C4-E70D83B3E3BA}"/>
    <pc:docChg chg="undo custSel addSld modSld sldOrd">
      <pc:chgData name="mazen mahmoud" userId="62fca06549bf55a0" providerId="LiveId" clId="{E3077015-2BC3-4AD0-95C4-E70D83B3E3BA}" dt="2026-10-25T10:32:50.472" v="30"/>
      <pc:docMkLst>
        <pc:docMk/>
      </pc:docMkLst>
      <pc:sldChg chg="modSp mod">
        <pc:chgData name="mazen mahmoud" userId="62fca06549bf55a0" providerId="LiveId" clId="{E3077015-2BC3-4AD0-95C4-E70D83B3E3BA}" dt="2026-10-25T10:26:33.696" v="13" actId="20577"/>
        <pc:sldMkLst>
          <pc:docMk/>
          <pc:sldMk cId="0" sldId="258"/>
        </pc:sldMkLst>
        <pc:spChg chg="mod">
          <ac:chgData name="mazen mahmoud" userId="62fca06549bf55a0" providerId="LiveId" clId="{E3077015-2BC3-4AD0-95C4-E70D83B3E3BA}" dt="2026-10-25T10:26:33.696" v="13" actId="20577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mazen mahmoud" userId="62fca06549bf55a0" providerId="LiveId" clId="{E3077015-2BC3-4AD0-95C4-E70D83B3E3BA}" dt="2026-10-25T03:30:01.201" v="0" actId="1035"/>
        <pc:sldMkLst>
          <pc:docMk/>
          <pc:sldMk cId="0" sldId="263"/>
        </pc:sldMkLst>
        <pc:spChg chg="mod">
          <ac:chgData name="mazen mahmoud" userId="62fca06549bf55a0" providerId="LiveId" clId="{E3077015-2BC3-4AD0-95C4-E70D83B3E3BA}" dt="2026-10-25T03:30:01.201" v="0" actId="1035"/>
          <ac:spMkLst>
            <pc:docMk/>
            <pc:sldMk cId="0" sldId="263"/>
            <ac:spMk id="2" creationId="{00000000-0000-0000-0000-000000000000}"/>
          </ac:spMkLst>
        </pc:spChg>
      </pc:sldChg>
      <pc:sldChg chg="modSp add mod ord">
        <pc:chgData name="mazen mahmoud" userId="62fca06549bf55a0" providerId="LiveId" clId="{E3077015-2BC3-4AD0-95C4-E70D83B3E3BA}" dt="2026-10-25T10:31:41.135" v="28" actId="14100"/>
        <pc:sldMkLst>
          <pc:docMk/>
          <pc:sldMk cId="0" sldId="314"/>
        </pc:sldMkLst>
        <pc:spChg chg="mod">
          <ac:chgData name="mazen mahmoud" userId="62fca06549bf55a0" providerId="LiveId" clId="{E3077015-2BC3-4AD0-95C4-E70D83B3E3BA}" dt="2026-10-25T10:31:41.135" v="28" actId="14100"/>
          <ac:spMkLst>
            <pc:docMk/>
            <pc:sldMk cId="0" sldId="314"/>
            <ac:spMk id="17" creationId="{00000000-0000-0000-0000-000000000000}"/>
          </ac:spMkLst>
        </pc:spChg>
      </pc:sldChg>
      <pc:sldChg chg="add">
        <pc:chgData name="mazen mahmoud" userId="62fca06549bf55a0" providerId="LiveId" clId="{E3077015-2BC3-4AD0-95C4-E70D83B3E3BA}" dt="2026-10-25T10:32:03.207" v="29"/>
        <pc:sldMkLst>
          <pc:docMk/>
          <pc:sldMk cId="0" sldId="315"/>
        </pc:sldMkLst>
      </pc:sldChg>
      <pc:sldChg chg="add">
        <pc:chgData name="mazen mahmoud" userId="62fca06549bf55a0" providerId="LiveId" clId="{E3077015-2BC3-4AD0-95C4-E70D83B3E3BA}" dt="2026-10-25T10:32:50.472" v="30"/>
        <pc:sldMkLst>
          <pc:docMk/>
          <pc:sldMk cId="0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740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The goal is a correct mental model: each idea gets an everyday analogy, then the real command or GitHub screen. Analogies are learning aids, not exact equivalents. All output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Mention this one deck replaces the two-session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analogies help you remember, but the technical sentence on each slide is the one to trust. Advanced topics (rebase, reset, reflog, bisect, CI/CD) are optional next steps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 vs online album. A remote repository is just another copy of the repo stored elsewhere. Today everything is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with git --version. Official instructions: git-scm.com/downloads. On Windows, the installer defaults are fine for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many of you have a final_final folder? The zip names carry no information. In Git each commit answers what, who, when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for Windows includes Git Bash. Mistake: thinking config logs you in. Verify with git config --global --list.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ls -la next slide. A repo is not only the .git folder: it is the working files plus the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When: starting a new project. Mistake: running it in the wrong folder (check pwd). Verify with ls -a.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B. Fix by deleting the unintended .git folder after checking with pwd.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git status often. Misconception: saving in the editor records a version (it does not).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limit: at a checkout everything in the basket is bought; in Git you can also remove items again with git restore --staged.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Mistake: forgetting -m opens an editor. Verify with git log --oneline.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which history they would rather debug. Subject line about 50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B. The edit was not staged, so there was nothing to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it to verify every commit you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with git branch: * marks the current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B. Creating a branch does not switch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or stash local changes first; Git may refuse to switch if it would overwrite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with git log --oneline --graph. Analogy limit: Git keeps history, you can still see where each ingredient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Scenario: main set threshold 40, lcd-display set 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no markers remain: grep -n "&lt;&lt;&lt;&lt;&lt;&lt;&lt;" sensor.ino. git merge --abort cancels the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Templates: github.com/github/gitignore. Never commit secrets.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with git ls-files .env.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Misconception: stash is not a commit on a branch. If pop conflicts the stash is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a remote uploads nothing. Fix a wrong URL with git remote set-url origin NEW-URL.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saves locally; push publishes. Output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fetch only downloads; pull also integrates.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 starts a new repo; clone copies an existing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 vs clone: fork copies on GitHub; clone copies to your machine. Conceptual mock-up, not a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mock-up. A PR is a GitHub feature, not a Git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mock-up. Weak: "This is wrong." Better: "Should 40 count as dry? A boundary test would help."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mock-up.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mock-up of raw Markdown and how GitHub renders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B, when merged into the default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Stars are a popularity hint, not a quality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mock-up. Do not use graphs to rank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mock-up.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B, C,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Pairs. Common problems: wrong folder, missing config, wrong URL, sign-in. Output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explain each analogy and where it breaks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mention briefly. Resources are official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/w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27878"/>
            <a:ext cx="6949440" cy="36706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noFill/>
          <a:ln w="508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/home/claude/b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1051560" cy="30544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914400"/>
            <a:ext cx="2926080" cy="365760"/>
          </a:xfrm>
          <a:prstGeom prst="rect">
            <a:avLst/>
          </a:prstGeom>
          <a:solidFill>
            <a:srgbClr val="00629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Session 1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cs typeface="Arial" pitchFamily="34" charset="-120"/>
              </a:rPr>
              <a:t>Let's Dive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</a:t>
            </a:r>
            <a:r>
              <a:rPr lang="en-US" dirty="0" err="1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r>
              <a:rPr lang="en-US" sz="1800" dirty="0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you have to see the full picture..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Nahda University · Introductory Training Course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0" y="3566160"/>
            <a:ext cx="2194560" cy="0"/>
          </a:xfrm>
          <a:prstGeom prst="line">
            <a:avLst/>
          </a:prstGeom>
          <a:noFill/>
          <a:ln w="381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6583680" y="2651760"/>
            <a:ext cx="365760" cy="914400"/>
          </a:xfrm>
          <a:prstGeom prst="line">
            <a:avLst/>
          </a:prstGeom>
          <a:noFill/>
          <a:ln w="38100">
            <a:solidFill>
              <a:srgbClr val="7FB2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949440" y="2651760"/>
            <a:ext cx="731520" cy="0"/>
          </a:xfrm>
          <a:prstGeom prst="line">
            <a:avLst/>
          </a:prstGeom>
          <a:noFill/>
          <a:ln w="38100">
            <a:solidFill>
              <a:srgbClr val="7FB2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680960" y="2651760"/>
            <a:ext cx="365760" cy="914400"/>
          </a:xfrm>
          <a:prstGeom prst="line">
            <a:avLst/>
          </a:prstGeom>
          <a:noFill/>
          <a:ln w="38100">
            <a:solidFill>
              <a:srgbClr val="7FB2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96712" y="3410712"/>
            <a:ext cx="310896" cy="310896"/>
          </a:xfrm>
          <a:prstGeom prst="ellipse">
            <a:avLst/>
          </a:prstGeom>
          <a:solidFill>
            <a:srgbClr val="00629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28232" y="3410712"/>
            <a:ext cx="310896" cy="310896"/>
          </a:xfrm>
          <a:prstGeom prst="ellipse">
            <a:avLst/>
          </a:prstGeom>
          <a:solidFill>
            <a:srgbClr val="00629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59752" y="3410712"/>
            <a:ext cx="310896" cy="310896"/>
          </a:xfrm>
          <a:prstGeom prst="ellipse">
            <a:avLst/>
          </a:prstGeom>
          <a:solidFill>
            <a:srgbClr val="00629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891272" y="3410712"/>
            <a:ext cx="310896" cy="310896"/>
          </a:xfrm>
          <a:prstGeom prst="ellipse">
            <a:avLst/>
          </a:prstGeom>
          <a:solidFill>
            <a:srgbClr val="00629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793992" y="2496312"/>
            <a:ext cx="310896" cy="310896"/>
          </a:xfrm>
          <a:prstGeom prst="ellipse">
            <a:avLst/>
          </a:prstGeom>
          <a:solidFill>
            <a:srgbClr val="7FB2D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525512" y="2496312"/>
            <a:ext cx="310896" cy="310896"/>
          </a:xfrm>
          <a:prstGeom prst="ellipse">
            <a:avLst/>
          </a:prstGeom>
          <a:solidFill>
            <a:srgbClr val="7FB2D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66928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7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852160" y="10972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7FB2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85216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 sensor reading“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B2545"/>
                </a:solidFill>
                <a:latin typeface="Consolas" pitchFamily="34" charset="0"/>
              </a:rPr>
              <a:t>(or any of ur own prjs)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&amp; Preparation Credits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097280" y="1143000"/>
            <a:ext cx="6949440" cy="822960"/>
          </a:xfrm>
          <a:prstGeom prst="roundRect">
            <a:avLst>
              <a:gd name="adj" fmla="val 11111"/>
            </a:avLst>
          </a:prstGeom>
          <a:solidFill>
            <a:srgbClr val="E6F0F8"/>
          </a:solidFill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1280160" y="1143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11430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Mazen Mahmoud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97280" y="2148840"/>
            <a:ext cx="6949440" cy="822960"/>
          </a:xfrm>
          <a:prstGeom prst="roundRect">
            <a:avLst>
              <a:gd name="adj" fmla="val 11111"/>
            </a:avLst>
          </a:prstGeom>
          <a:solidFill>
            <a:srgbClr val="E6F0F8"/>
          </a:solidFill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280160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2148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Seif Mohamed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097280" y="3154680"/>
            <a:ext cx="6949440" cy="822960"/>
          </a:xfrm>
          <a:prstGeom prst="roundRect">
            <a:avLst>
              <a:gd name="adj" fmla="val 11111"/>
            </a:avLst>
          </a:prstGeom>
          <a:solidFill>
            <a:srgbClr val="E6F0F8"/>
          </a:solidFill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28016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31546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Shehab Ibrahim &amp;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Eng. Mark Shaker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206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Nahda University · Git &amp; GitHub Course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2499360" cy="1097280"/>
          </a:xfrm>
          <a:prstGeom prst="roundRect">
            <a:avLst>
              <a:gd name="adj" fmla="val 8333"/>
            </a:avLst>
          </a:prstGeom>
          <a:solidFill>
            <a:srgbClr val="E6F0F8"/>
          </a:solidFill>
          <a:ln w="317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1051560"/>
            <a:ext cx="2499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Git (1–13)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956560" y="1463040"/>
            <a:ext cx="320040" cy="274320"/>
          </a:xfrm>
          <a:prstGeom prst="rightArrow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322320" y="1051560"/>
            <a:ext cx="2499360" cy="1097280"/>
          </a:xfrm>
          <a:prstGeom prst="roundRect">
            <a:avLst>
              <a:gd name="adj" fmla="val 8333"/>
            </a:avLst>
          </a:prstGeom>
          <a:solidFill>
            <a:srgbClr val="E6F0F8"/>
          </a:solidFill>
          <a:ln w="3175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322320" y="1051560"/>
            <a:ext cx="2499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(14–17)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867400" y="1463040"/>
            <a:ext cx="320040" cy="274320"/>
          </a:xfrm>
          <a:prstGeom prst="rightArrow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33160" y="1051560"/>
            <a:ext cx="2499360" cy="1097280"/>
          </a:xfrm>
          <a:prstGeom prst="roundRect">
            <a:avLst>
              <a:gd name="adj" fmla="val 8333"/>
            </a:avLst>
          </a:prstGeom>
          <a:solidFill>
            <a:srgbClr val="E6F0F8"/>
          </a:solidFill>
          <a:ln w="317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233160" y="1051560"/>
            <a:ext cx="2499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(18–25)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2560320"/>
            <a:ext cx="83210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tag = runs on your computer with Git; green tag = a GitHub website feature; Black = local and remote together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project: SmartPlant, an Arduino soil-moisture sensor (sensor.ino, README.md)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question follows about every two ideas. Terminal output is illustrative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vs GitHub, Local vs Remote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1005840"/>
            <a:ext cx="406908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1005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54480"/>
            <a:ext cx="40690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on your computer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versions in a local repository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069080" cy="4572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663440" y="1005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554480"/>
            <a:ext cx="40690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website that hosts remote repositories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sharing and review (Session 2)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an account and internet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8018A-BE20-A76A-7B58-FA2B42671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750" y="3323230"/>
            <a:ext cx="2074459" cy="15230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34A955-E002-4E85-D37C-3199CD222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107" y="3277998"/>
            <a:ext cx="1701826" cy="16135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Installing Git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11480" y="1005840"/>
          <a:ext cx="8321040" cy="181051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install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for Windows from git-scm.com/downloads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Includes Git Bash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xcode-select --install, or brew install git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Homebrew is optional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 (Debian/Ubuntu)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apt install git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Fedora: sudo dnf install git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B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" y="3108960"/>
            <a:ext cx="8321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install: git --version prints the version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and reopen the terminal if the command is not found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Versions by Hand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960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copies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474720" cy="402336"/>
          </a:xfrm>
          <a:prstGeom prst="roundRect">
            <a:avLst>
              <a:gd name="adj" fmla="val 15909"/>
            </a:avLst>
          </a:prstGeom>
          <a:solidFill>
            <a:srgbClr val="FDECEC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11480" y="1234440"/>
            <a:ext cx="347472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project_v1.zip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709928"/>
            <a:ext cx="3474720" cy="402336"/>
          </a:xfrm>
          <a:prstGeom prst="roundRect">
            <a:avLst>
              <a:gd name="adj" fmla="val 15909"/>
            </a:avLst>
          </a:prstGeom>
          <a:solidFill>
            <a:srgbClr val="FDECEC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11480" y="1709928"/>
            <a:ext cx="347472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project_final.zip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185416"/>
            <a:ext cx="3474720" cy="402336"/>
          </a:xfrm>
          <a:prstGeom prst="roundRect">
            <a:avLst>
              <a:gd name="adj" fmla="val 15909"/>
            </a:avLst>
          </a:prstGeom>
          <a:solidFill>
            <a:srgbClr val="FDECEC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11480" y="2185416"/>
            <a:ext cx="347472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project_final_revised.zip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2660904"/>
            <a:ext cx="3474720" cy="402336"/>
          </a:xfrm>
          <a:prstGeom prst="roundRect">
            <a:avLst>
              <a:gd name="adj" fmla="val 15909"/>
            </a:avLst>
          </a:prstGeom>
          <a:solidFill>
            <a:srgbClr val="FDECEC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11480" y="2660904"/>
            <a:ext cx="347472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project_final_REAL.zip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23360" y="2148840"/>
            <a:ext cx="822960" cy="0"/>
          </a:xfrm>
          <a:prstGeom prst="line">
            <a:avLst/>
          </a:prstGeom>
          <a:noFill/>
          <a:ln w="25400">
            <a:solidFill>
              <a:srgbClr val="00629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703320" y="1856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2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history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 flipH="1">
            <a:off x="5625846" y="1737360"/>
            <a:ext cx="589788" cy="0"/>
          </a:xfrm>
          <a:prstGeom prst="line">
            <a:avLst/>
          </a:prstGeom>
          <a:noFill/>
          <a:ln w="19050">
            <a:solidFill>
              <a:srgbClr val="5A67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 flipH="1">
            <a:off x="6563106" y="1737360"/>
            <a:ext cx="589788" cy="0"/>
          </a:xfrm>
          <a:prstGeom prst="line">
            <a:avLst/>
          </a:prstGeom>
          <a:noFill/>
          <a:ln w="19050">
            <a:solidFill>
              <a:srgbClr val="5A67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H="1">
            <a:off x="7500366" y="1737360"/>
            <a:ext cx="589788" cy="0"/>
          </a:xfrm>
          <a:prstGeom prst="line">
            <a:avLst/>
          </a:prstGeom>
          <a:noFill/>
          <a:ln w="19050">
            <a:solidFill>
              <a:srgbClr val="5A67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278374" y="1563624"/>
            <a:ext cx="347472" cy="347472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278374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15634" y="1563624"/>
            <a:ext cx="347472" cy="347472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215634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152894" y="1563624"/>
            <a:ext cx="347472" cy="347472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7152894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90154" y="1563624"/>
            <a:ext cx="347472" cy="347472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090154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983480" y="2148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reading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920740" y="2148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threshold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858000" y="2148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LCD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795260" y="2148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bug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388620" y="3337560"/>
            <a:ext cx="83210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zip is newest? What changed, who changed it, and why? Nothing records it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records each change with author, time and message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earlier state can be inspected or restored on demand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name on a notebook before using it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--version proves Git is installed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user.name and user.email label every commit you make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GitHub login: signing in comes later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1623060"/>
          </a:xfrm>
          <a:prstGeom prst="roundRect">
            <a:avLst>
              <a:gd name="adj" fmla="val 394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2573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version 2.xx.x.windows.1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"Sara Ahmed"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"sara@example.com"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--list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user.name=Sara Ahmed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user.email=sara@example.com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Repository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travel bag that holds everything for the trip, plus a list of what was packed and when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repository (repo) = your project files + the saved history of changes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history sits in a hidden .git folder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repo is on your computer; a remote repo is on a server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limit: a bag holds things; a repo also remembers every earlier state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57800" y="114300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E6F0F8"/>
          </a:solidFill>
          <a:ln w="22225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257800" y="1143000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smart-plant/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 any project you own)</a:t>
            </a:r>
          </a:p>
        </p:txBody>
      </p:sp>
      <p:sp>
        <p:nvSpPr>
          <p:cNvPr id="12" name="Shape 9"/>
          <p:cNvSpPr/>
          <p:nvPr/>
        </p:nvSpPr>
        <p:spPr>
          <a:xfrm>
            <a:off x="4343400" y="2514600"/>
            <a:ext cx="1325880" cy="594360"/>
          </a:xfrm>
          <a:prstGeom prst="roundRect">
            <a:avLst>
              <a:gd name="adj" fmla="val 10769"/>
            </a:avLst>
          </a:prstGeom>
          <a:solidFill>
            <a:srgbClr val="E6F0F8"/>
          </a:solidFill>
          <a:ln w="2222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343400" y="2514600"/>
            <a:ext cx="1325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2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sensor.ino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2514600"/>
            <a:ext cx="1325880" cy="594360"/>
          </a:xfrm>
          <a:prstGeom prst="roundRect">
            <a:avLst>
              <a:gd name="adj" fmla="val 10769"/>
            </a:avLst>
          </a:prstGeom>
          <a:solidFill>
            <a:srgbClr val="E6F0F8"/>
          </a:solidFill>
          <a:ln w="2222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806440" y="2514600"/>
            <a:ext cx="1325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2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269480" y="251460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E6F0F8"/>
          </a:solidFill>
          <a:ln w="222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26948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.git/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 flipH="1">
            <a:off x="4983480" y="1783080"/>
            <a:ext cx="1463040" cy="731520"/>
          </a:xfrm>
          <a:prstGeom prst="line">
            <a:avLst/>
          </a:prstGeom>
          <a:noFill/>
          <a:ln w="19050">
            <a:solidFill>
              <a:srgbClr val="5A67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46520" y="1783080"/>
            <a:ext cx="0" cy="731520"/>
          </a:xfrm>
          <a:prstGeom prst="line">
            <a:avLst/>
          </a:prstGeom>
          <a:noFill/>
          <a:ln w="19050">
            <a:solidFill>
              <a:srgbClr val="5A67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46520" y="1783080"/>
            <a:ext cx="1463040" cy="731520"/>
          </a:xfrm>
          <a:prstGeom prst="line">
            <a:avLst/>
          </a:prstGeom>
          <a:noFill/>
          <a:ln w="19050">
            <a:solidFill>
              <a:srgbClr val="5A67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343400" y="3429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files + hidden history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git init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Installing a security camera, from now on there is a place that can keep a record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the current folder into a Git repository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hidden .git folder; your files are untouched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a camera, Git does not record continuously: it saves only when you commit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upload anything to GitHub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2015109"/>
          </a:xfrm>
          <a:prstGeom prst="roundRect">
            <a:avLst>
              <a:gd name="adj" fmla="val 317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init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6493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smart-plant &amp;&amp; cd smart-plant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Git repository 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C:/Users/sara/smart-plant/.git/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 ..  .git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commits yet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1: Choose the best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· CHOOSE THE BEST ACTION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accidentally ran git init inside your Desktop folder. What really happened?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8138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Your Desktop was uploaded to GitHub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A hidden .git folder was created in Desktop; nothing was uploaded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A GitHub repository named Desktop was created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Nothing: init only works in empty folders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7648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A hidden .git folder was created; nothing was uploaded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init is local: it creates .git in the current folder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 not involved until you connect a remote and push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with pwd and ls -a before init; remove the stray .git folder if it was a mistake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Working Directory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kitchen where work is in progress: ingredients and half-finished dishes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folder you see and edit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does not track a new file until you tell it to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reports what changed and what is untracked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and saving a file changes only the working directory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2183130"/>
          </a:xfrm>
          <a:prstGeom prst="roundRect">
            <a:avLst>
              <a:gd name="adj" fmla="val 293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8173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  sensor.ino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commits yet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(use "git add &lt;file&gt;..." to include 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what will be committed)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README.md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sensor.ino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Git Add (Staging Area)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supermarket basket: only what you put in the basket gets paid for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puts changes in the staging area (also called the index)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choose which changes go into the next commit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does not save a version and does not upload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 git status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2183130"/>
          </a:xfrm>
          <a:prstGeom prst="roundRect">
            <a:avLst>
              <a:gd name="adj" fmla="val 293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8173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sensor.ino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commits yet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(use "git rm --cached &lt;file&gt;..." to unstage)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file:   sensor.ino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README.md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2: Predict the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· PREDICT THE OUTPUT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buzzer.ino and notes.txt are new files. You run git add buzzer.ino. What does git status show?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8138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Both files under "Changes to be committed"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buzzer.ino staged; notes.txt untracked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Both files untracked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Nothing: add needs -A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buzzer.ino is staged; notes.txt remains untracked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stages only the file you name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notes.txt is still in the working directory, unknown to the next commit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selectively is why commits can stay focused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5.Git Commit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commemorative photograph: the project at one moment, kept in the album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commit saves a snapshot of the staged changes in local history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an author, a time, a message and a unique ID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saved locally: it is not on GitHub until you push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Unstaged changes are not part of 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2263140"/>
          </a:xfrm>
          <a:prstGeom prst="roundRect">
            <a:avLst>
              <a:gd name="adj" fmla="val 282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8973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moisture sensor reading"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(root-commit) 3c1f9a2] Add moisture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 reading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file changed, 12 insertions(+)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 mode 100644 sensor.ino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README.md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added to commit but untracked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present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Commit 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social-media caption: it tells people what they are looking at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-m "text" attaches the message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changed and why, in a short imperative sentence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"stuff", "fix", "final2"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messages make history searchable and reviews easier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1679067"/>
          </a:xfrm>
          <a:prstGeom prst="roundRect">
            <a:avLst>
              <a:gd name="adj" fmla="val 38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log --oneline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3133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weak messages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f21a7c0 stuff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9d3b6e8 fix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strong messages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7e02b19 Raise dry threshold to 40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a81c5d4 Fix negative reading when unplugged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3c1f9a2 Add moisture sensor reading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3: Interpret the screen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· INTERPRET THE SCREEN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ran git commit -m "Add buzzer alarm" and saw this. What is the next step?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663440" y="2194560"/>
            <a:ext cx="4023360" cy="1679067"/>
          </a:xfrm>
          <a:prstGeom prst="roundRect">
            <a:avLst>
              <a:gd name="adj" fmla="val 38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63440" y="2212848"/>
            <a:ext cx="402336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227685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10328" y="227685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65776" y="227685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303520" y="221284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221284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505456"/>
            <a:ext cx="3840480" cy="13133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buzzer alarm"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not staged for commit: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modified:   sensor.ino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changes added to commit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 "git add" and/or "git commit -a")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194560"/>
            <a:ext cx="40233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git push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git add sensor.ino, then commit again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git init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Rename the branch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Stage the file, then commit again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is modified but not staged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commit records only staged changes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is premature: nothing was committed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git log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old photo album: flip back through the saved pictures, newest first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commits from newest to oldest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--oneline shows a short ID and the message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git log adds author and date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q to leave a long log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2103120"/>
          </a:xfrm>
          <a:prstGeom prst="roundRect">
            <a:avLst>
              <a:gd name="adj" fmla="val 304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log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7e02b19 (HEAD -&gt; main) Raise dry threshold to 40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a81c5d4 Fix negative reading when unplugged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3c1f9a2 Add moisture sensor reading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7e02b19f4c...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 Sara Ahmed &lt;sara@example.com&gt;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  Tue Oct 20 10:15:00 2026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dry threshold to 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Branch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draft notebook: experiment without touching the final copy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branch is a separate line of development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Technically it is a lightweight pointer to a commit, not a copy of the project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 name creates one but does not move you to 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stays stable while you experiment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flipH="1">
            <a:off x="4956048" y="1325880"/>
            <a:ext cx="530352" cy="0"/>
          </a:xfrm>
          <a:prstGeom prst="line">
            <a:avLst/>
          </a:prstGeom>
          <a:noFill/>
          <a:ln w="19050">
            <a:solidFill>
              <a:srgbClr val="5A67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H="1">
            <a:off x="5833872" y="1325880"/>
            <a:ext cx="530352" cy="0"/>
          </a:xfrm>
          <a:prstGeom prst="line">
            <a:avLst/>
          </a:prstGeom>
          <a:noFill/>
          <a:ln w="19050">
            <a:solidFill>
              <a:srgbClr val="5A67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H="1" flipV="1">
            <a:off x="5793604" y="1437103"/>
            <a:ext cx="610889" cy="509074"/>
          </a:xfrm>
          <a:prstGeom prst="line">
            <a:avLst/>
          </a:prstGeom>
          <a:noFill/>
          <a:ln w="19050">
            <a:solidFill>
              <a:srgbClr val="5A67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08576" y="1152144"/>
            <a:ext cx="347472" cy="347472"/>
          </a:xfrm>
          <a:prstGeom prst="ellipse">
            <a:avLst/>
          </a:prstGeom>
          <a:solidFill>
            <a:srgbClr val="00629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608576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1152144"/>
            <a:ext cx="347472" cy="347472"/>
          </a:xfrm>
          <a:prstGeom prst="ellipse">
            <a:avLst/>
          </a:prstGeom>
          <a:solidFill>
            <a:srgbClr val="00629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86400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64224" y="1152144"/>
            <a:ext cx="347472" cy="347472"/>
          </a:xfrm>
          <a:prstGeom prst="ellipse">
            <a:avLst/>
          </a:prstGeom>
          <a:solidFill>
            <a:srgbClr val="00629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364224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364224" y="1883664"/>
            <a:ext cx="347472" cy="34747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364224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81928" y="850392"/>
            <a:ext cx="512064" cy="228600"/>
          </a:xfrm>
          <a:prstGeom prst="roundRect">
            <a:avLst>
              <a:gd name="adj" fmla="val 24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281928" y="85039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870448" y="2304288"/>
            <a:ext cx="1335024" cy="228600"/>
          </a:xfrm>
          <a:prstGeom prst="roundRect">
            <a:avLst>
              <a:gd name="adj" fmla="val 24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870448" y="230428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buzzer-feature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43400" y="2560320"/>
            <a:ext cx="4389120" cy="182880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343400" y="25786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434840" y="26426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90288" y="26426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745736" y="26426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983480" y="25786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726680" y="25786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4434840" y="2871216"/>
            <a:ext cx="42062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main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buzzer-feature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buzzer-feature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main</a:t>
            </a:r>
            <a:endParaRPr lang="en-US" sz="10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4: Predict what happens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· PREDICT WHAT HAPPENS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run git branch lcd-display and then git commit. Where does the commit go?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663440" y="2194560"/>
            <a:ext cx="4023360" cy="1207008"/>
          </a:xfrm>
          <a:prstGeom prst="roundRect">
            <a:avLst>
              <a:gd name="adj" fmla="val 53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63440" y="2212848"/>
            <a:ext cx="402336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227685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10328" y="227685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65776" y="227685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303520" y="221284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221284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505456"/>
            <a:ext cx="38404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lcd-display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lcd-display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main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194560"/>
            <a:ext cx="40233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lcd-display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main (you are still on it)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Both branches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Neither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main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* shows the current branch: main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 only creates the pointer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git switch lcd-display (or switch -c) to move first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Checkout / Switch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between rooms: your files change to match the room you enter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is the modern, preferred command for changing branches (-c creates one)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checkout is older and multi-purpose: it also restores files and checks out commits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still works, which is why old tutorials use 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changes your working files to that branch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1679067"/>
          </a:xfrm>
          <a:prstGeom prst="roundRect">
            <a:avLst>
              <a:gd name="adj" fmla="val 38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3133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buzzer-feature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a new branch 'buzzer-feature'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branch 'main'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older command, same result: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buzzer-feature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branch 'buzzer-feature'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Merge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two juices: the result contains both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 the commits of another branch into your current branch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the receiving branch first (here main)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Fast-forward: main just moves ahead, no merge commit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both branches changed, Git creates a merge commit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1511046"/>
          </a:xfrm>
          <a:prstGeom prst="roundRect">
            <a:avLst>
              <a:gd name="adj" fmla="val 42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merge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1452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buzzer-feature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Updating 7e02b19..b4c8d12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Fast-forward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sensor.ino | 6 ++++++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file changed, 6 insertions(+)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5: Predict what changes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· PREDICT WHAT CHANGES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on buzzer-feature and run git merge main. What is the result?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8138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main now contains the buzzer feature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buzzer-feature receives main's changes; main is unchanged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Both branches are deleted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Git pushes to GitHub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The branch you are on receives the changes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changes the current branch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put the feature into main: switch to main, then merge buzzer-feature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published to GitHub by merging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11a. Merge Conflict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siblings want different TV channels: someone has to decide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branches changed the same lines differently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cannot know which is intended, so it stops and asks you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normal request for a decision, not a failure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lists the files to resolve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2015109"/>
          </a:xfrm>
          <a:prstGeom prst="roundRect">
            <a:avLst>
              <a:gd name="adj" fmla="val 317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conflict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6493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lcd-display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Auto-merging sensor.ino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(content): Merge conflict 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sensor.ino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 merge failed; fix conflicts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commit the result.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have unmerged paths.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both modified:   sensor.ino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11b. Resolving a Conflict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siblings agree on one channel, then the TV is turned on again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file and read both sides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to the correct final code and delete all three markers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it, then git add and git commit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delete one side blindly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2183130"/>
          </a:xfrm>
          <a:prstGeom prst="roundRect">
            <a:avLst>
              <a:gd name="adj" fmla="val 293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sensor.ino  (or ur own prj)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8173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threshold = 40;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threshold = 35;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lcd-display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choosing the agreed value: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threshold = 38;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sensor.ino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8a1b2c3] Merge branch 'lcd-display'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12a. .gitignore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drawer for things that stay home when you pack the bag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text file of rules naming files Git should not track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Typical: secrets (.env), logs, generated files, dependencies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apply to untracked files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 files do not appear in git status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2015109"/>
          </a:xfrm>
          <a:prstGeom prst="roundRect">
            <a:avLst>
              <a:gd name="adj" fmla="val 317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6493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.gitignore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 .gitignore  debug.log  sensor.ino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--short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 .gitignore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 sensor.ino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12b. .gitignore Does Not Untrack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note to the drawer does not remove what is already in the bag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.env was already committed, Git keeps tracking 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rm --cached stops tracking but keeps your local file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that change; the old commits still contain 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leaked secret must be revoked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1679067"/>
          </a:xfrm>
          <a:prstGeom prst="roundRect">
            <a:avLst>
              <a:gd name="adj" fmla="val 38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 a file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3133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ls-files .env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rm --cached .env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'.env'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"Stop tracking .env"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ls-files .env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output)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6: Diagnose the mistake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· DIAGNOSE THE MISTAKE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added .env to .gitignore, but git status still shows .env as modified. Why?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8138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.gitignore has a typo in its name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.env was already tracked; use git rm --cached .env and commit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Git must be restarted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.gitignore only works on GitHub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The file was already tracked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applies to untracked files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rm --cached untracks it without deleting your copy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holds a real secret, revoke that secret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git stash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Git on your computer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temporary drawer for unfinished work you want out of the way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modified tracked files and gives you a clean working directory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stash pop restores and removes the entry; stash apply keeps 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 files are not stashed by default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you must switch tasks without committing half-done work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1783080"/>
          </a:xfrm>
          <a:prstGeom prst="roundRect">
            <a:avLst>
              <a:gd name="adj" fmla="val 359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4389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stash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42062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push -m "wip: buzzer tone"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working directory and index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buzzer-feature: wip: buzzer tone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stash@{0}: On buzzer-feature: wip: buzzer tone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buzzer-feature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pop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Remote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+ REMOTE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89611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246120" y="896112"/>
            <a:ext cx="54406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3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stored in Google Drive or </a:t>
            </a:r>
            <a:r>
              <a:rPr lang="en-US" sz="1350" i="1" dirty="0" err="1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icloud</a:t>
            </a:r>
            <a:r>
              <a:rPr lang="en-US" sz="13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an online copy others can reach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600200"/>
            <a:ext cx="8321040" cy="1175004"/>
          </a:xfrm>
          <a:prstGeom prst="roundRect">
            <a:avLst>
              <a:gd name="adj" fmla="val 544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" y="1618488"/>
            <a:ext cx="832104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168249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" y="168249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13816" y="168249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51560" y="1618488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16184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1911096"/>
            <a:ext cx="8138160" cy="8092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https://github.com/sara/smart-plant.git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https://github.com/sara/smart-plant.git (fetch)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https://github.com/sara/smart-plant.git (push)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2866644"/>
            <a:ext cx="8321040" cy="17967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remote is another copy of your repository on a server such as GitHub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is the usual nickname for it; git remote -v shows the URL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limit: Drive syncs automatically, Git only exchanges commits when you push or pull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7: Choose the best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· CHOOSE THE BEST ACTION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buzzer code is half done on buzzer-feature, and an urgent fix is needed on main. You do not want a messy commit. Best approach?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60320"/>
            <a:ext cx="81381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git reset --hard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git stash push, switch to main, fix, switch back, git stash pop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Delete the branch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Copy the folder and start over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Stash, fix main, come back, pop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stash sets the unfinished work aside safely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--hard would destroy it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restores the work onto the branch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git push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+ REMOTE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89611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246120" y="896112"/>
            <a:ext cx="54406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3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a story: others only see it after you post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600200"/>
            <a:ext cx="8321040" cy="1511046"/>
          </a:xfrm>
          <a:prstGeom prst="roundRect">
            <a:avLst>
              <a:gd name="adj" fmla="val 42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" y="1618488"/>
            <a:ext cx="832104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168249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" y="168249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13816" y="168249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51560" y="1618488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16184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1911096"/>
            <a:ext cx="8138160" cy="11452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Enumerating objects: 9, done.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objects: 100% (9/9), 1.2 KiB | 1.2 MiB/s, done.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https://github.com/sara/smart-plant.git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[new branch]      main -&gt; main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'main' set up to track 'origin/main'.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3202686"/>
            <a:ext cx="8321040" cy="146075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your local commits to the remote branch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-u remembers origin/main for future push and pull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permission and sign-in (browser or credential manager); never paste tokens into URLs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on the GitHub page: files and commits appear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git pull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+ REMOTE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89611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246120" y="896112"/>
            <a:ext cx="54406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3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the latest episode: new updates come to you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600200"/>
            <a:ext cx="8321040" cy="1679067"/>
          </a:xfrm>
          <a:prstGeom prst="roundRect">
            <a:avLst>
              <a:gd name="adj" fmla="val 38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" y="1618488"/>
            <a:ext cx="832104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168249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" y="168249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13816" y="168249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51560" y="1618488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16184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1911096"/>
            <a:ext cx="8138160" cy="13133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https://github.com/sara/smart-plant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7e02b19..c3d4e5f  main       -&gt; origin/main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Updating 7e02b19..c3d4e5f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Fast-forward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README.md | 2 ++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file changed, 2 insertions(+)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3370707"/>
            <a:ext cx="8321040" cy="129273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 new commits from the remote and integrates them into your current branch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fetches, then merges by default (or rebases if configured)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or stash your own changes first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 git log --oneline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8: Interpret the screen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· INTERPRET THE SCREEN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teammate pushed first. You commit and push and see this. What is the safest next step?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663440" y="219456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63440" y="2212848"/>
            <a:ext cx="402336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227685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10328" y="227685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65776" y="227685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303520" y="221284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221284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2505456"/>
            <a:ext cx="38404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[rejected]  main -&gt; main (fetch first)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failed to push some refs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'https://github.com/sara/smart-plant.git'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Updates were rejected because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remote contains work you do not have.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194560"/>
            <a:ext cx="40233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git push --force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git pull, review the result, then push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Delete your commit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Delete the remote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Pull, review, then push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remote has commits you do not have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brings them in; resolve any conflict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Force-push can erase your teammate's work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git clone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+ REMOTE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89611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246120" y="896112"/>
            <a:ext cx="54406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3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Downloading a complete game, not just the launcher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600200"/>
            <a:ext cx="8321040" cy="1343025"/>
          </a:xfrm>
          <a:prstGeom prst="roundRect">
            <a:avLst>
              <a:gd name="adj" fmla="val 476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" y="1618488"/>
            <a:ext cx="832104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168249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" y="168249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13816" y="168249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51560" y="1618488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16184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1911096"/>
            <a:ext cx="8138160" cy="9772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https://github.com/lab/smart-plant.git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Cloning into 'smart-plant'...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Receiving objects: 100% (24/24), done.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smart-plant &amp;&amp; git log --oneline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7e02b19 (HEAD -&gt; main, origin/main) Raise dry threshold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3034665"/>
            <a:ext cx="8321040" cy="162877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 an entire repository, with history, to your computer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folder and sets origin automatically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once to get a project; then use pull for updates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 git log --oneline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Fork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· GitHub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your own copy of someone else's recipe so you can try changes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fork is a copy of a repository under your GitHub account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change your fork freely; the original stays untouched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is a GitHub feature; clone then copies your fork to your computer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return to the original via a pull request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105156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E6F0F8"/>
          </a:solidFill>
          <a:ln w="22225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343400" y="1051560"/>
            <a:ext cx="18288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/ smart-plant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1051560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E6F0F8"/>
          </a:solidFill>
          <a:ln w="222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812280" y="1051560"/>
            <a:ext cx="1920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 / smart-plant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forked from lab/smart-plant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417320"/>
            <a:ext cx="64008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76072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0" y="1783080"/>
            <a:ext cx="0" cy="1371600"/>
          </a:xfrm>
          <a:prstGeom prst="line">
            <a:avLst/>
          </a:prstGeom>
          <a:noFill/>
          <a:ln w="25400">
            <a:solidFill>
              <a:srgbClr val="00629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040880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2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12280" y="3154680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E6F0F8"/>
          </a:solidFill>
          <a:ln w="2222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812280" y="3154680"/>
            <a:ext cx="1920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computer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clone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9: Choose the best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· CHOOSE THE BEST ACTION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found a bug in the lab's repository, where you have no write access. What is the right sequence?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8138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Clone it and push directly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Fork, clone your fork, branch, push, open a pull request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git init and push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Star the repository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9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Fork, clone, branch, push, pull request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gives you a writable copy on GitHub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brings it to your computer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pull request proposes the change to the original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Pull Request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· GitHub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Submitting a school assignment: you ask for review and inclusion in the class project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pull request (PR) asks the project to merge your branch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description, linked issue, checks and discussion live on the PR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same as git pull, which downloads updates to your computer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your branch first; the PR is opened on GitHub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343400" y="960120"/>
            <a:ext cx="43891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53128" y="10515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#15  Add buzzer alarm for dry soil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453128" y="1371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 wants to merge 2 commits into main from add-buzzer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53128" y="1737360"/>
            <a:ext cx="4169664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453128" y="1737360"/>
            <a:ext cx="4169664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the LED is easy to miss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 buzzer on pin 8   Closes #12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53128" y="2880360"/>
            <a:ext cx="4169664" cy="411480"/>
          </a:xfrm>
          <a:prstGeom prst="roundRect">
            <a:avLst>
              <a:gd name="adj" fmla="val 15556"/>
            </a:avLst>
          </a:prstGeom>
          <a:solidFill>
            <a:srgbClr val="ECFDF5"/>
          </a:solidFill>
          <a:ln w="222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453128" y="2880360"/>
            <a:ext cx="416966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checks have passed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53128" y="352044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 w="222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453128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pull request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Code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· GitHub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teacher reviewing homework: comments first, then it counts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teammate reads your changes and comments on specific lines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can comment, approve or request changes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feedback is specific and about the code, not the person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more commits to the same branch to answer feedback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343400" y="960120"/>
            <a:ext cx="43891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53128" y="1033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sensor.ino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1325880"/>
            <a:ext cx="4206240" cy="96012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34840" y="1344168"/>
            <a:ext cx="420624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26280" y="140817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81728" y="140817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37176" y="140817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074920" y="13441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635240" y="134416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526280" y="1636776"/>
            <a:ext cx="4023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int threshold = 30;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if (value &lt; 40) {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434840" y="2377440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E6F0F8"/>
          </a:solidFill>
          <a:ln w="2222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434840" y="2377440"/>
            <a:ext cx="42062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maria: Should 40 count as dry?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boundary test would clarify.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34840" y="3429000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E6F0F8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43484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806440" y="3429000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E6F0F8"/>
          </a:solidFill>
          <a:ln w="222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80644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178040" y="3429000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E6F0F8"/>
          </a:solidFill>
          <a:ln w="222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717804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changes</a:t>
            </a:r>
            <a:endParaRPr lang="en-US" sz="10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10: Choose the best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 · CHOOSE THE BEST ACTION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reviewer clicked "Request changes" on your pull request. What do you do?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8138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Close the PR and open a new one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Push more commits to the same branch; the PR updates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Delete the repository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Force-push main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Push more commits to the same branch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 follows its branch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to comments and ask for a re-review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PR would lose the discussion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Issues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· GitHub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household note listing problems and tasks to be done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issue tracks a bug, task or idea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classify; assignees show who owns 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"Closes #12" in a PR closes issue #12 when it merges into the default branch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live on GitHub, not in your local repo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343400" y="960120"/>
            <a:ext cx="43891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53128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  3 open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53128" y="1508760"/>
            <a:ext cx="4169664" cy="731520"/>
          </a:xfrm>
          <a:prstGeom prst="roundRect">
            <a:avLst>
              <a:gd name="adj" fmla="val 8750"/>
            </a:avLst>
          </a:prstGeom>
          <a:solidFill>
            <a:srgbClr val="F8FAFC"/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453128" y="1508760"/>
            <a:ext cx="416966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  Sensor reads 0 when unplugged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label: bug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53128" y="2377440"/>
            <a:ext cx="4169664" cy="731520"/>
          </a:xfrm>
          <a:prstGeom prst="roundRect">
            <a:avLst>
              <a:gd name="adj" fmla="val 8750"/>
            </a:avLst>
          </a:prstGeom>
          <a:solidFill>
            <a:srgbClr val="F8FAFC"/>
          </a:solidFill>
          <a:ln w="2222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453128" y="2377440"/>
            <a:ext cx="416966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  Add buzzer alarm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label: enhancement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53128" y="3246120"/>
            <a:ext cx="4169664" cy="731520"/>
          </a:xfrm>
          <a:prstGeom prst="roundRect">
            <a:avLst>
              <a:gd name="adj" fmla="val 8750"/>
            </a:avLst>
          </a:prstGeom>
          <a:solidFill>
            <a:srgbClr val="F8FAFC"/>
          </a:solidFill>
          <a:ln w="222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453128" y="3246120"/>
            <a:ext cx="416966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   Write README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label: documentation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README.md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· GitHub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instruction manual that comes with an appliance (The one with a lot of pages to read, and you through it away)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file visitors read; GitHub shows it on the repo page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in Markdown: # headings, - lists, backticks for code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what it is, how to wire and run it, how to contribute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teammate should be able to start from the README alone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2103120" cy="2651760"/>
          </a:xfrm>
          <a:prstGeom prst="roundRect">
            <a:avLst>
              <a:gd name="adj" fmla="val 304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43400" y="978408"/>
            <a:ext cx="210312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0424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90288" y="10424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04241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983480" y="97840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9784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34840" y="1271016"/>
            <a:ext cx="19202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SmartPlant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 moisture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Wiring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VCC -&gt; 5V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Aout -&gt; 0A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37960" y="960120"/>
            <a:ext cx="2194560" cy="26517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7FB2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629400" y="1051560"/>
            <a:ext cx="201168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SmartPlant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moisture monitor.</a:t>
            </a:r>
            <a:endParaRPr lang="en-US" sz="16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VCC -&gt; 5V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Aout -&gt; 0A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11: Predict what happens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11 · PREDICT WHAT HAPPENS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 description says "Closes #12" and the PR is merged into main. What happens to issue #12?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8138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Nothing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It is closed automatically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It is deleted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It is renamed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Issue #12 closes automatically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links the PR to the issue by the keyword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closes when the PR merges into the default branch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issues stay in the list for reference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Star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· GitHub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Liking or bookmarking a YouTube video: save it and show appreciation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bookmarks a repository in your starred list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signals interest to the owner and others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copy the repo (fork does), nor change it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Watching, not starring, controls notifications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22225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343400" y="960120"/>
            <a:ext cx="438912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/ smart-plant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237744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E6F0F8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34340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237744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E6F0F8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80644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69480" y="237744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E6F0F8"/>
          </a:solidFill>
          <a:ln w="381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26948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128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Contributor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· GitHub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of a team, each doing their part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contributor is someone whose changes have been added to the project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lists contributors by commits and merged work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Collaborators are different: they have direct write access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counts are imperfect and not a measure of skill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343400" y="960120"/>
            <a:ext cx="4389120" cy="3200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53128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80560" y="15087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6F0F8"/>
          </a:solidFill>
          <a:ln w="2222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4805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9320" y="1600200"/>
            <a:ext cx="2606040" cy="274320"/>
          </a:xfrm>
          <a:prstGeom prst="roundRect">
            <a:avLst>
              <a:gd name="adj" fmla="val 23333"/>
            </a:avLst>
          </a:prstGeom>
          <a:solidFill>
            <a:srgbClr val="00629B"/>
          </a:solidFill>
          <a:ln w="2222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98932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80560" y="21488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6F0F8"/>
          </a:solidFill>
          <a:ln w="222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480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0" y="2240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89320" y="2240280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16A34A"/>
          </a:solidFill>
          <a:ln w="222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989320" y="2240280"/>
            <a:ext cx="1911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480560" y="2788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6F0F8"/>
          </a:solidFill>
          <a:ln w="222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4805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0" y="2880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89320" y="2880360"/>
            <a:ext cx="1042416" cy="274320"/>
          </a:xfrm>
          <a:prstGeom prst="roundRect">
            <a:avLst>
              <a:gd name="adj" fmla="val 23333"/>
            </a:avLst>
          </a:prstGeom>
          <a:solidFill>
            <a:srgbClr val="D97706"/>
          </a:solidFill>
          <a:ln w="222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5989320" y="2880360"/>
            <a:ext cx="104241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80560" y="34290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6F0F8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44805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7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02920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989320" y="3520440"/>
            <a:ext cx="521208" cy="274320"/>
          </a:xfrm>
          <a:prstGeom prst="roundRect">
            <a:avLst>
              <a:gd name="adj" fmla="val 23333"/>
            </a:avLst>
          </a:prstGeom>
          <a:solidFill>
            <a:srgbClr val="5A6772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989320" y="3520440"/>
            <a:ext cx="52120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 Organization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· GitHub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280160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4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sports club that brings teams and members together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40280"/>
            <a:ext cx="374904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organization is a shared account that owns repositories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are grouped into teams with different access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clubs and labs: ownership stays with the group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your personal account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8912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22225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343400" y="960120"/>
            <a:ext cx="43891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53128" y="10515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SmartPlant-Lab (organization)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80560" y="150876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E6F0F8"/>
          </a:solidFill>
          <a:ln w="2222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48056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team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members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0" y="150876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E6F0F8"/>
          </a:solidFill>
          <a:ln w="222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58368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team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members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80560" y="2423160"/>
            <a:ext cx="411480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480560" y="2423160"/>
            <a:ext cx="4114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7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smart-plant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480560" y="2971800"/>
            <a:ext cx="411480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480560" y="2971800"/>
            <a:ext cx="4114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7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sensor-board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80560" y="3520440"/>
            <a:ext cx="411480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22225">
            <a:solidFill>
              <a:srgbClr val="5A67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48056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7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12: Select all that apply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60120"/>
            <a:ext cx="5303520" cy="347472"/>
          </a:xfrm>
          <a:prstGeom prst="roundRect">
            <a:avLst>
              <a:gd name="adj" fmla="val 263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12 · SELECT ALL THAT APPLY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371600"/>
            <a:ext cx="8321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actions need the GitHub website (not just local Git)?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94560"/>
            <a:ext cx="8138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git commit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Opening a pull request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Starring a repository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git switch -c feature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E) Creating an issue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17320"/>
            <a:ext cx="8321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B, C and 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8321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and branches are local Git operations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requests, stars and issues are GitHub features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and pull connect the two worlds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Exercise: First Commit and Push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651760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+ REMOTE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89611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6F0F8"/>
          </a:solidFill>
          <a:ln w="15875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246120" y="896112"/>
            <a:ext cx="54406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  </a:t>
            </a:r>
            <a:r>
              <a:rPr lang="en-US" sz="13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the bag, take the photo, post the story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600200"/>
            <a:ext cx="8321040" cy="1343025"/>
          </a:xfrm>
          <a:prstGeom prst="roundRect">
            <a:avLst>
              <a:gd name="adj" fmla="val 476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" y="1618488"/>
            <a:ext cx="8321040" cy="246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168249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" y="168249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13816" y="168249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51560" y="1618488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Bash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16184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1911096"/>
            <a:ext cx="8138160" cy="9772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README.md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README"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https://github.com/sara/smart-plant.git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3034665"/>
            <a:ext cx="8321040" cy="162877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GitHub repo named smart-plant (empty); copy its URL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Checkpoints: git status after add, git log --oneline after commit, repo page after push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2499360" cy="1097280"/>
          </a:xfrm>
          <a:prstGeom prst="roundRect">
            <a:avLst>
              <a:gd name="adj" fmla="val 8333"/>
            </a:avLst>
          </a:prstGeom>
          <a:solidFill>
            <a:srgbClr val="E6F0F8"/>
          </a:solidFill>
          <a:ln w="317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11480" y="1051560"/>
            <a:ext cx="2499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Git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init, add, commit, branch, merge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956560" y="1463040"/>
            <a:ext cx="320040" cy="274320"/>
          </a:xfrm>
          <a:prstGeom prst="rightArrow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322320" y="1051560"/>
            <a:ext cx="2499360" cy="1097280"/>
          </a:xfrm>
          <a:prstGeom prst="roundRect">
            <a:avLst>
              <a:gd name="adj" fmla="val 8333"/>
            </a:avLst>
          </a:prstGeom>
          <a:solidFill>
            <a:srgbClr val="E6F0F8"/>
          </a:solidFill>
          <a:ln w="3175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322320" y="1051560"/>
            <a:ext cx="2499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push, pull, clone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867400" y="1463040"/>
            <a:ext cx="320040" cy="274320"/>
          </a:xfrm>
          <a:prstGeom prst="rightArrow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33160" y="1051560"/>
            <a:ext cx="2499360" cy="1097280"/>
          </a:xfrm>
          <a:prstGeom prst="roundRect">
            <a:avLst>
              <a:gd name="adj" fmla="val 8333"/>
            </a:avLst>
          </a:prstGeom>
          <a:solidFill>
            <a:srgbClr val="E6F0F8"/>
          </a:solidFill>
          <a:ln w="317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233160" y="1051560"/>
            <a:ext cx="2499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fork, PR, review, issues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2560320"/>
            <a:ext cx="83210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saves locally; push publishes; pull fetches and integrates; clone copies; fork copies on GitHub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is the modern way to change branches; .gitignore applies to untracked files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Analogies helped you remember: the technical sentences are what to rely 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760" y="182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0"/>
          </a:xfrm>
          <a:prstGeom prst="line">
            <a:avLst/>
          </a:prstGeom>
          <a:noFill/>
          <a:ln w="1905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11480" y="1005840"/>
            <a:ext cx="83210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Rebase, reset, reflog and bisect advanced history tools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and CI/CD: automatic tests on every push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 strategies and code-review practice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Docs: git-scm.com/doc · docs.github.com · skills.github.com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5631</Words>
  <Application>Microsoft Office PowerPoint</Application>
  <PresentationFormat>On-screen Show (16:9)</PresentationFormat>
  <Paragraphs>909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IEEE Git &amp; GitHub - Session 0</dc:title>
  <dc:subject>PptxGenJS Presentation</dc:subject>
  <dc:creator>IEEE Nahda University</dc:creator>
  <cp:lastModifiedBy>mazen mahmoud</cp:lastModifiedBy>
  <cp:revision>2</cp:revision>
  <dcterms:created xsi:type="dcterms:W3CDTF">2026-10-21T19:10:57Z</dcterms:created>
  <dcterms:modified xsi:type="dcterms:W3CDTF">2026-10-25T10:33:01Z</dcterms:modified>
</cp:coreProperties>
</file>